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E72E1-1555-A1AD-FCD2-81D368D320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9EC935-D3FF-1179-7379-503FD5A354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9B3AF3-337D-C67C-AA3E-D4C3AF994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7A7F7-4A08-4F0E-A294-0FD40183E0F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B163F-92D8-D15D-7EDE-B2A663AF6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E54BD-DA0A-977B-B840-939EA1CF0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1C6DD-49EF-423E-8AEF-AB122317EF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67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F94DA-0FDD-497D-4EAE-5995529F0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6B7A7-C77B-92C4-E512-D1D2AD192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D636C-ED29-038D-95BE-23A1F1AB4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7A7F7-4A08-4F0E-A294-0FD40183E0F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237CF-4A3D-DCD4-079C-AB6A219CA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38EB7-9CAB-DB2F-613B-A3588BF06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1C6DD-49EF-423E-8AEF-AB122317EF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6551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BCBCF-2E9F-BA57-10E4-0E4269DA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9D5788-BD93-8617-EB1B-CDF4D6B88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F9D90-3933-2C11-7839-767A5F916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7A7F7-4A08-4F0E-A294-0FD40183E0F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AA900-3074-5942-8067-D881CD221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9D106-82BF-4C17-EC9E-51A7D917A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1C6DD-49EF-423E-8AEF-AB122317EF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698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8EB33-3F84-9780-EFBE-DFE130668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8E4DE-DE4F-B961-0533-9BCEBE54C7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1128F2-228D-0D32-BEB3-478811937A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3F9B74-747E-0116-62D8-55AB5D6F9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7A7F7-4A08-4F0E-A294-0FD40183E0F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E0E1B-8FB9-35DF-5AB0-16F784D05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2D3A4B-DD5F-90F3-2BC2-A5CE46914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1C6DD-49EF-423E-8AEF-AB122317EF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3262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40429-719C-0B6F-EA38-EC55BEEF7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B2500-345B-4123-E31C-A11FB1D63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35692F-F126-B2EA-19B4-94ABF40A6F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4F5F15-E599-DDED-6BC9-08FF793AB4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6CA6A3-440D-6A5C-4CA8-7B7D2145F3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990CE3-3D18-834E-8BEF-50DDA5206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7A7F7-4A08-4F0E-A294-0FD40183E0F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14EF76-E233-85CF-D395-4264D0240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670230-8167-813A-5751-E21335465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1C6DD-49EF-423E-8AEF-AB122317EF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79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06863-5327-D7C9-B9D2-5D2932792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94853B-B193-8CFC-F907-E1B6FDAC0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7A7F7-4A08-4F0E-A294-0FD40183E0F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0F2B2E-F0EC-E645-90A8-98E22B743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88E5AC-5FDC-BFA5-7609-2E12ED324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1C6DD-49EF-423E-8AEF-AB122317EF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9396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B1078B-9BF3-EF6D-2A09-3D5679027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7A7F7-4A08-4F0E-A294-0FD40183E0F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AD1A08-3CB3-204C-61FA-8F0EB2637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09532D-47F6-57E1-92B2-792FFBCE1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1C6DD-49EF-423E-8AEF-AB122317EF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179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72756-F93F-8448-D640-D8C7380F7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8B728-0EDB-F0F6-C7F1-31719F6D9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CC355F-9E77-80BD-8144-55A0B572BB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34769A-5E07-A724-4C5A-1BC83D93A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7A7F7-4A08-4F0E-A294-0FD40183E0F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1E899B-6C1E-B41E-DA30-A87594D24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DDD018-0D92-FCFE-142C-136067626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1C6DD-49EF-423E-8AEF-AB122317EF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682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769B9-D781-F9C8-DB4F-A7B9F763A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EEF4D8-666D-5A5B-CDC2-6F62317735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D3C88E-8F9A-FC91-55E3-FC75ADF634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491394-31BF-8B4F-A0E5-34C2DACA4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7A7F7-4A08-4F0E-A294-0FD40183E0F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F566D1-15ED-A259-137C-DB2807A09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CF861-7A3B-B838-21B0-3D5BAC511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1C6DD-49EF-423E-8AEF-AB122317EF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58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F1DAF-D845-5D15-9971-B75DB51C1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685ED6-9CBD-E0CE-2E5F-05C1C92642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CC5EB-FE64-3721-3FCA-B494F4077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7A7F7-4A08-4F0E-A294-0FD40183E0F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030E1-6168-0BF1-023E-0D506FE63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F7285-EABB-7EF2-2DDE-CE38A3CC2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1C6DD-49EF-423E-8AEF-AB122317EF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7535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F308CD-BA80-30A2-BE47-4FB785D4E3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FA3330-7A72-AAD9-5CA3-3FF00F517B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9479A-1476-B743-0EC2-BFCA6798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7A7F7-4A08-4F0E-A294-0FD40183E0F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FB4B3-A89B-6F04-0F62-241B7BD70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37E76-572F-B3F0-3B17-836D039DD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1C6DD-49EF-423E-8AEF-AB122317EF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5238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EEDB81-76C5-3355-EB38-66A774AE4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D0216-E9E4-35C9-D259-6412C001A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BCB0F-3BCC-2C9C-365C-12E6F4E489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B7A7F7-4A08-4F0E-A294-0FD40183E0F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1592F-E865-4F66-D744-67A95F5315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D21CE-4A1D-33DD-A89D-525EA1E9AD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C1C6DD-49EF-423E-8AEF-AB122317EF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479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EF3854A-386F-A103-681C-235C85AAA23D}"/>
              </a:ext>
            </a:extLst>
          </p:cNvPr>
          <p:cNvSpPr txBox="1">
            <a:spLocks/>
          </p:cNvSpPr>
          <p:nvPr/>
        </p:nvSpPr>
        <p:spPr>
          <a:xfrm>
            <a:off x="1080574" y="1131094"/>
            <a:ext cx="7886700" cy="25641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950">
                <a:solidFill>
                  <a:srgbClr val="C00000"/>
                </a:solidFill>
              </a:rPr>
              <a:t>As Is</a:t>
            </a:r>
            <a:r>
              <a:rPr lang="en-IN" sz="1950">
                <a:solidFill>
                  <a:srgbClr val="C00000"/>
                </a:solidFill>
                <a:latin typeface="+mn-lt"/>
              </a:rPr>
              <a:t> Digital Landscape - C&amp;M :</a:t>
            </a:r>
            <a:endParaRPr lang="en-IN" sz="195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953270-B51D-FAFD-8351-0773F84118EB}"/>
              </a:ext>
            </a:extLst>
          </p:cNvPr>
          <p:cNvSpPr txBox="1"/>
          <p:nvPr/>
        </p:nvSpPr>
        <p:spPr>
          <a:xfrm>
            <a:off x="1080574" y="1500174"/>
            <a:ext cx="8512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Aptos" panose="020B0004020202020204" pitchFamily="34" charset="0"/>
              </a:rPr>
              <a:t>The process from Need Validation to tendering to invoice processing is conducted over various IT platforms which do not communicate with each other thereby lacking end to end visibility</a:t>
            </a:r>
            <a:endParaRPr lang="en-IN" sz="1400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ADAAB39C-3E82-3C61-0D59-FBB5B2DCAF34}"/>
              </a:ext>
            </a:extLst>
          </p:cNvPr>
          <p:cNvSpPr/>
          <p:nvPr/>
        </p:nvSpPr>
        <p:spPr>
          <a:xfrm>
            <a:off x="1077847" y="2276872"/>
            <a:ext cx="1080000" cy="72008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Tendering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5F54A65-ED0E-9FE4-2945-B5E4DACCC5C7}"/>
              </a:ext>
            </a:extLst>
          </p:cNvPr>
          <p:cNvSpPr/>
          <p:nvPr/>
        </p:nvSpPr>
        <p:spPr>
          <a:xfrm>
            <a:off x="2369560" y="2285993"/>
            <a:ext cx="1080000" cy="72008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Pre – Award Approval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DD1E16D-3A64-D5F5-1129-3782968C621C}"/>
              </a:ext>
            </a:extLst>
          </p:cNvPr>
          <p:cNvSpPr/>
          <p:nvPr/>
        </p:nvSpPr>
        <p:spPr>
          <a:xfrm>
            <a:off x="3678007" y="2276872"/>
            <a:ext cx="1080000" cy="72008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Award/</a:t>
            </a:r>
          </a:p>
          <a:p>
            <a:pPr algn="ctr"/>
            <a:r>
              <a:rPr lang="en-IN" sz="1100" dirty="0">
                <a:solidFill>
                  <a:schemeClr val="tx1"/>
                </a:solidFill>
              </a:rPr>
              <a:t>GRN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5834281-7AFA-9216-319C-B25DF2B113F6}"/>
              </a:ext>
            </a:extLst>
          </p:cNvPr>
          <p:cNvSpPr/>
          <p:nvPr/>
        </p:nvSpPr>
        <p:spPr>
          <a:xfrm>
            <a:off x="5012766" y="2285993"/>
            <a:ext cx="1080000" cy="72008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Post – Award Monitoring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6DA6215-B9F2-ADC7-E9A1-FCCE648FA964}"/>
              </a:ext>
            </a:extLst>
          </p:cNvPr>
          <p:cNvSpPr/>
          <p:nvPr/>
        </p:nvSpPr>
        <p:spPr>
          <a:xfrm>
            <a:off x="8870418" y="2285992"/>
            <a:ext cx="1080000" cy="72008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Invoicing and BGs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B5324C-55A8-9A21-6745-2DD2ACEA059B}"/>
              </a:ext>
            </a:extLst>
          </p:cNvPr>
          <p:cNvSpPr/>
          <p:nvPr/>
        </p:nvSpPr>
        <p:spPr>
          <a:xfrm>
            <a:off x="1077848" y="3212974"/>
            <a:ext cx="1080000" cy="2160000"/>
          </a:xfrm>
          <a:prstGeom prst="rect">
            <a:avLst/>
          </a:prstGeom>
          <a:solidFill>
            <a:schemeClr val="accent3">
              <a:lumMod val="60000"/>
              <a:lumOff val="40000"/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14288"/>
            <a:r>
              <a:rPr lang="en-IN" sz="1200" dirty="0">
                <a:solidFill>
                  <a:schemeClr val="tx1"/>
                </a:solidFill>
              </a:rPr>
              <a:t>1.Tender No. – ERP</a:t>
            </a:r>
          </a:p>
          <a:p>
            <a:pPr indent="14288"/>
            <a:endParaRPr lang="en-IN" sz="1200" dirty="0">
              <a:solidFill>
                <a:schemeClr val="tx1"/>
              </a:solidFill>
            </a:endParaRPr>
          </a:p>
          <a:p>
            <a:pPr indent="14288"/>
            <a:r>
              <a:rPr lang="en-IN" sz="1200" dirty="0">
                <a:solidFill>
                  <a:schemeClr val="tx1"/>
                </a:solidFill>
              </a:rPr>
              <a:t>2. Floating and e-RA – SAP SRM</a:t>
            </a:r>
          </a:p>
          <a:p>
            <a:pPr indent="14288"/>
            <a:endParaRPr lang="en-IN" sz="1200" dirty="0">
              <a:solidFill>
                <a:schemeClr val="tx1"/>
              </a:solidFill>
            </a:endParaRPr>
          </a:p>
          <a:p>
            <a:pPr indent="14288"/>
            <a:endParaRPr lang="en-IN" sz="1200" dirty="0">
              <a:solidFill>
                <a:schemeClr val="tx1"/>
              </a:solidFill>
            </a:endParaRPr>
          </a:p>
          <a:p>
            <a:pPr indent="14288"/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21601C-50FF-8966-A548-8972AC1E6E2D}"/>
              </a:ext>
            </a:extLst>
          </p:cNvPr>
          <p:cNvSpPr/>
          <p:nvPr/>
        </p:nvSpPr>
        <p:spPr>
          <a:xfrm>
            <a:off x="2369560" y="3222095"/>
            <a:ext cx="1080000" cy="216000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MSB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9B0574-AC51-733C-3DC3-8357BBB087B2}"/>
              </a:ext>
            </a:extLst>
          </p:cNvPr>
          <p:cNvSpPr/>
          <p:nvPr/>
        </p:nvSpPr>
        <p:spPr>
          <a:xfrm>
            <a:off x="3663874" y="3186537"/>
            <a:ext cx="1080000" cy="216000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SAP</a:t>
            </a:r>
          </a:p>
          <a:p>
            <a:pPr algn="ctr"/>
            <a:r>
              <a:rPr lang="en-IN" sz="1400" dirty="0">
                <a:solidFill>
                  <a:schemeClr val="tx1"/>
                </a:solidFill>
              </a:rPr>
              <a:t>MM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9BE0FE-84B4-6D2C-2F93-23CB6326C98C}"/>
              </a:ext>
            </a:extLst>
          </p:cNvPr>
          <p:cNvSpPr/>
          <p:nvPr/>
        </p:nvSpPr>
        <p:spPr>
          <a:xfrm>
            <a:off x="5012766" y="3169156"/>
            <a:ext cx="1080000" cy="2160000"/>
          </a:xfrm>
          <a:prstGeom prst="rect">
            <a:avLst/>
          </a:prstGeom>
          <a:solidFill>
            <a:schemeClr val="accent4">
              <a:lumMod val="50000"/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dirty="0">
                <a:solidFill>
                  <a:schemeClr val="tx1"/>
                </a:solidFill>
              </a:rPr>
              <a:t>1. Material – SAP (MM Module)</a:t>
            </a:r>
          </a:p>
          <a:p>
            <a:endParaRPr lang="en-IN" sz="1200" dirty="0">
              <a:solidFill>
                <a:schemeClr val="tx1"/>
              </a:solidFill>
            </a:endParaRPr>
          </a:p>
          <a:p>
            <a:r>
              <a:rPr lang="en-IN" sz="1200" dirty="0">
                <a:solidFill>
                  <a:schemeClr val="tx1"/>
                </a:solidFill>
              </a:rPr>
              <a:t>2. Schemes – SSMS</a:t>
            </a:r>
          </a:p>
          <a:p>
            <a:endParaRPr lang="en-IN" sz="1200" dirty="0">
              <a:solidFill>
                <a:schemeClr val="tx1"/>
              </a:solidFill>
            </a:endParaRPr>
          </a:p>
          <a:p>
            <a:r>
              <a:rPr lang="en-IN" sz="1200" dirty="0">
                <a:solidFill>
                  <a:schemeClr val="tx1"/>
                </a:solidFill>
              </a:rPr>
              <a:t>3. SAP  </a:t>
            </a:r>
          </a:p>
          <a:p>
            <a:r>
              <a:rPr lang="en-IN" sz="1200" dirty="0">
                <a:solidFill>
                  <a:schemeClr val="tx1"/>
                </a:solidFill>
              </a:rPr>
              <a:t>    MDCC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F2A15F9-3B74-DC76-DD56-D28296E10B0F}"/>
              </a:ext>
            </a:extLst>
          </p:cNvPr>
          <p:cNvSpPr/>
          <p:nvPr/>
        </p:nvSpPr>
        <p:spPr>
          <a:xfrm>
            <a:off x="8870418" y="3126665"/>
            <a:ext cx="1080000" cy="2202490"/>
          </a:xfrm>
          <a:prstGeom prst="rect">
            <a:avLst/>
          </a:prstGeom>
          <a:solidFill>
            <a:srgbClr val="FFC000">
              <a:alpha val="50000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IN" sz="1400" dirty="0">
                <a:solidFill>
                  <a:schemeClr val="tx1"/>
                </a:solidFill>
              </a:rPr>
              <a:t>BTS</a:t>
            </a:r>
          </a:p>
          <a:p>
            <a:r>
              <a:rPr lang="en-IN" sz="1000" dirty="0">
                <a:solidFill>
                  <a:schemeClr val="tx1"/>
                </a:solidFill>
              </a:rPr>
              <a:t>(Bill tracking system)</a:t>
            </a:r>
          </a:p>
          <a:p>
            <a:r>
              <a:rPr lang="en-IN" sz="1000" dirty="0">
                <a:solidFill>
                  <a:schemeClr val="tx1"/>
                </a:solidFill>
              </a:rPr>
              <a:t>(3 different Platforms ) </a:t>
            </a:r>
          </a:p>
          <a:p>
            <a:endParaRPr lang="en-IN" sz="1000" dirty="0">
              <a:solidFill>
                <a:schemeClr val="tx1"/>
              </a:solidFill>
            </a:endParaRPr>
          </a:p>
          <a:p>
            <a:r>
              <a:rPr lang="en-IN" sz="1400" dirty="0">
                <a:solidFill>
                  <a:schemeClr val="tx1"/>
                </a:solidFill>
              </a:rPr>
              <a:t>2. SAP FI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2B38E94C-D5E7-3F6F-AFA8-448BEF8478BB}"/>
              </a:ext>
            </a:extLst>
          </p:cNvPr>
          <p:cNvSpPr txBox="1">
            <a:spLocks/>
          </p:cNvSpPr>
          <p:nvPr/>
        </p:nvSpPr>
        <p:spPr bwMode="auto">
          <a:xfrm>
            <a:off x="1509202" y="714356"/>
            <a:ext cx="7886700" cy="256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IN" sz="2000" dirty="0">
                <a:solidFill>
                  <a:srgbClr val="002060"/>
                </a:solidFill>
              </a:rPr>
              <a:t>SUPPLY CHAIN MANAGEMENT</a:t>
            </a:r>
          </a:p>
        </p:txBody>
      </p:sp>
      <p:sp>
        <p:nvSpPr>
          <p:cNvPr id="17" name="Rounded Rectangle 57">
            <a:extLst>
              <a:ext uri="{FF2B5EF4-FFF2-40B4-BE49-F238E27FC236}">
                <a16:creationId xmlns:a16="http://schemas.microsoft.com/office/drawing/2014/main" id="{561A6C48-BCB2-634A-194C-1E0C82CFC601}"/>
              </a:ext>
            </a:extLst>
          </p:cNvPr>
          <p:cNvSpPr/>
          <p:nvPr/>
        </p:nvSpPr>
        <p:spPr>
          <a:xfrm>
            <a:off x="7592964" y="2288643"/>
            <a:ext cx="1080000" cy="72008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Vendor  Assessment, Performance</a:t>
            </a:r>
          </a:p>
          <a:p>
            <a:pPr algn="ctr"/>
            <a:r>
              <a:rPr lang="en-IN" sz="1000" dirty="0">
                <a:solidFill>
                  <a:schemeClr val="tx1"/>
                </a:solidFill>
              </a:rPr>
              <a:t>&amp; Feedback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C5A9887-3BEE-9125-18D1-46B1A8052E27}"/>
              </a:ext>
            </a:extLst>
          </p:cNvPr>
          <p:cNvSpPr/>
          <p:nvPr/>
        </p:nvSpPr>
        <p:spPr>
          <a:xfrm>
            <a:off x="7592964" y="3141102"/>
            <a:ext cx="1080000" cy="2188053"/>
          </a:xfrm>
          <a:prstGeom prst="rect">
            <a:avLst/>
          </a:prstGeom>
          <a:solidFill>
            <a:srgbClr val="FFC000">
              <a:alpha val="50000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i="1" dirty="0">
                <a:solidFill>
                  <a:schemeClr val="tx1"/>
                </a:solidFill>
              </a:rPr>
              <a:t>No Existing ERP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91FDF2E-298E-A648-3DCD-091D5EC7346E}"/>
              </a:ext>
            </a:extLst>
          </p:cNvPr>
          <p:cNvCxnSpPr/>
          <p:nvPr/>
        </p:nvCxnSpPr>
        <p:spPr>
          <a:xfrm rot="5400000">
            <a:off x="795908" y="3845594"/>
            <a:ext cx="2880000" cy="1588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BF811AE-9112-8043-B4A9-A012B06B9C9F}"/>
              </a:ext>
            </a:extLst>
          </p:cNvPr>
          <p:cNvCxnSpPr/>
          <p:nvPr/>
        </p:nvCxnSpPr>
        <p:spPr>
          <a:xfrm rot="5400000">
            <a:off x="2080203" y="3845594"/>
            <a:ext cx="2880000" cy="1588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D49601E-B7D4-596E-25A7-18D4B6931563}"/>
              </a:ext>
            </a:extLst>
          </p:cNvPr>
          <p:cNvCxnSpPr/>
          <p:nvPr/>
        </p:nvCxnSpPr>
        <p:spPr>
          <a:xfrm rot="5400000">
            <a:off x="3437525" y="3845594"/>
            <a:ext cx="2880000" cy="1588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09EEF2C-241B-7D40-31C9-0E6B9DADA5E9}"/>
              </a:ext>
            </a:extLst>
          </p:cNvPr>
          <p:cNvCxnSpPr/>
          <p:nvPr/>
        </p:nvCxnSpPr>
        <p:spPr>
          <a:xfrm rot="5400000">
            <a:off x="4724998" y="3782306"/>
            <a:ext cx="2880000" cy="1588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8A91CA3-AA65-15B1-B774-2F53BEE9A9AA}"/>
              </a:ext>
            </a:extLst>
          </p:cNvPr>
          <p:cNvCxnSpPr/>
          <p:nvPr/>
        </p:nvCxnSpPr>
        <p:spPr>
          <a:xfrm rot="5400000">
            <a:off x="7295177" y="3782307"/>
            <a:ext cx="2880000" cy="1588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27">
            <a:extLst>
              <a:ext uri="{FF2B5EF4-FFF2-40B4-BE49-F238E27FC236}">
                <a16:creationId xmlns:a16="http://schemas.microsoft.com/office/drawing/2014/main" id="{DC022F7F-7C49-CD9F-379E-AD8D324948DC}"/>
              </a:ext>
            </a:extLst>
          </p:cNvPr>
          <p:cNvSpPr/>
          <p:nvPr/>
        </p:nvSpPr>
        <p:spPr>
          <a:xfrm>
            <a:off x="6258959" y="2288643"/>
            <a:ext cx="1080000" cy="72008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Vendor / Contractor Progress*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F310EF8-43AF-0B2D-856C-D1B81E35BB55}"/>
              </a:ext>
            </a:extLst>
          </p:cNvPr>
          <p:cNvSpPr/>
          <p:nvPr/>
        </p:nvSpPr>
        <p:spPr>
          <a:xfrm>
            <a:off x="6258959" y="3197826"/>
            <a:ext cx="1080000" cy="2160000"/>
          </a:xfrm>
          <a:prstGeom prst="rect">
            <a:avLst/>
          </a:prstGeom>
          <a:solidFill>
            <a:schemeClr val="accent4">
              <a:lumMod val="50000"/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i="1" dirty="0">
                <a:solidFill>
                  <a:schemeClr val="tx1"/>
                </a:solidFill>
              </a:rPr>
              <a:t>No Vendor Interface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8C739DF-1AAA-BFAC-06CB-E73A450A1EB3}"/>
              </a:ext>
            </a:extLst>
          </p:cNvPr>
          <p:cNvCxnSpPr/>
          <p:nvPr/>
        </p:nvCxnSpPr>
        <p:spPr>
          <a:xfrm rot="5400000">
            <a:off x="6009293" y="3782306"/>
            <a:ext cx="2880000" cy="1588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Left-Right Arrow 231">
            <a:extLst>
              <a:ext uri="{FF2B5EF4-FFF2-40B4-BE49-F238E27FC236}">
                <a16:creationId xmlns:a16="http://schemas.microsoft.com/office/drawing/2014/main" id="{BE379790-0141-91DA-6EA2-00ADC0672FD2}"/>
              </a:ext>
            </a:extLst>
          </p:cNvPr>
          <p:cNvSpPr/>
          <p:nvPr/>
        </p:nvSpPr>
        <p:spPr>
          <a:xfrm>
            <a:off x="2369560" y="5643578"/>
            <a:ext cx="2508760" cy="384577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Award  Cycle</a:t>
            </a:r>
          </a:p>
        </p:txBody>
      </p:sp>
      <p:sp>
        <p:nvSpPr>
          <p:cNvPr id="28" name="Left-Right Arrow 232">
            <a:extLst>
              <a:ext uri="{FF2B5EF4-FFF2-40B4-BE49-F238E27FC236}">
                <a16:creationId xmlns:a16="http://schemas.microsoft.com/office/drawing/2014/main" id="{36FDE0DE-6A48-5349-D82F-989B9398211A}"/>
              </a:ext>
            </a:extLst>
          </p:cNvPr>
          <p:cNvSpPr/>
          <p:nvPr/>
        </p:nvSpPr>
        <p:spPr>
          <a:xfrm>
            <a:off x="4896274" y="5643577"/>
            <a:ext cx="2696690" cy="384577"/>
          </a:xfrm>
          <a:prstGeom prst="left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Vendor Monitoring</a:t>
            </a:r>
          </a:p>
        </p:txBody>
      </p:sp>
      <p:sp>
        <p:nvSpPr>
          <p:cNvPr id="29" name="Left-Right Arrow 233">
            <a:extLst>
              <a:ext uri="{FF2B5EF4-FFF2-40B4-BE49-F238E27FC236}">
                <a16:creationId xmlns:a16="http://schemas.microsoft.com/office/drawing/2014/main" id="{79DBC39C-EBF7-AD8B-91A5-6976D9C58894}"/>
              </a:ext>
            </a:extLst>
          </p:cNvPr>
          <p:cNvSpPr/>
          <p:nvPr/>
        </p:nvSpPr>
        <p:spPr>
          <a:xfrm>
            <a:off x="7592964" y="5643577"/>
            <a:ext cx="2357454" cy="384576"/>
          </a:xfrm>
          <a:prstGeom prst="leftRight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 Invoicing</a:t>
            </a:r>
          </a:p>
        </p:txBody>
      </p:sp>
      <p:sp>
        <p:nvSpPr>
          <p:cNvPr id="30" name="Left-Right Arrow 234">
            <a:extLst>
              <a:ext uri="{FF2B5EF4-FFF2-40B4-BE49-F238E27FC236}">
                <a16:creationId xmlns:a16="http://schemas.microsoft.com/office/drawing/2014/main" id="{305D7B90-E28F-DF74-6809-EDD39C33B324}"/>
              </a:ext>
            </a:extLst>
          </p:cNvPr>
          <p:cNvSpPr/>
          <p:nvPr/>
        </p:nvSpPr>
        <p:spPr>
          <a:xfrm>
            <a:off x="877792" y="5643578"/>
            <a:ext cx="1427666" cy="384578"/>
          </a:xfrm>
          <a:prstGeom prst="left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Tendering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34162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06A4294-BBD6-4D26-F25F-7599CFC10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6982" y="1387508"/>
            <a:ext cx="8839200" cy="1571636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b="1" dirty="0"/>
              <a:t>Various ERPs in different stages is being followed in Engineering, Procurement and Execution and do not  interface with each other on  common Platform.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b="1" dirty="0"/>
              <a:t>No single window Dashboard /reports to identify the gaps in planning &amp; monitoring of same at the same time.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b="1" dirty="0"/>
              <a:t> Limited window for  data accessibility for internal  statutory audits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4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6793902-5119-DAD9-1EB8-583F89E4C3B0}"/>
              </a:ext>
            </a:extLst>
          </p:cNvPr>
          <p:cNvSpPr txBox="1">
            <a:spLocks/>
          </p:cNvSpPr>
          <p:nvPr/>
        </p:nvSpPr>
        <p:spPr bwMode="auto">
          <a:xfrm>
            <a:off x="1783622" y="1131094"/>
            <a:ext cx="7886700" cy="256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IN" sz="1600" dirty="0">
                <a:solidFill>
                  <a:srgbClr val="C00000"/>
                </a:solidFill>
              </a:rPr>
              <a:t>As Is  </a:t>
            </a:r>
            <a:r>
              <a:rPr kumimoji="0" lang="en-IN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Issues in </a:t>
            </a:r>
            <a:r>
              <a:rPr lang="en-IN" sz="1600" dirty="0">
                <a:solidFill>
                  <a:srgbClr val="C00000"/>
                </a:solidFill>
                <a:latin typeface="+mn-lt"/>
              </a:rPr>
              <a:t>IT Landscape  C&amp;M</a:t>
            </a:r>
          </a:p>
          <a:p>
            <a:pPr lvl="0"/>
            <a:r>
              <a:rPr lang="en-IN" sz="1600" dirty="0">
                <a:solidFill>
                  <a:srgbClr val="C00000"/>
                </a:solidFill>
                <a:latin typeface="+mn-lt"/>
              </a:rPr>
              <a:t> </a:t>
            </a:r>
            <a:r>
              <a:rPr kumimoji="0" lang="en-IN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7E7E7AA-7131-8A38-4182-ED5231A08D80}"/>
              </a:ext>
            </a:extLst>
          </p:cNvPr>
          <p:cNvSpPr txBox="1">
            <a:spLocks/>
          </p:cNvSpPr>
          <p:nvPr/>
        </p:nvSpPr>
        <p:spPr bwMode="auto">
          <a:xfrm>
            <a:off x="1783622" y="3500438"/>
            <a:ext cx="7886700" cy="256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kumimoji="0" lang="en-IN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Issues remain</a:t>
            </a:r>
            <a:r>
              <a:rPr kumimoji="0" lang="en-IN" sz="1600" b="1" i="0" u="none" strike="noStrike" kern="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unattended in </a:t>
            </a:r>
            <a:r>
              <a:rPr lang="en-IN" sz="1600" dirty="0">
                <a:solidFill>
                  <a:srgbClr val="C00000"/>
                </a:solidFill>
                <a:latin typeface="+mn-lt"/>
              </a:rPr>
              <a:t>Current IT Landscape of C&amp;M</a:t>
            </a:r>
          </a:p>
          <a:p>
            <a:pPr lvl="0"/>
            <a:r>
              <a:rPr lang="en-IN" sz="1600" dirty="0">
                <a:solidFill>
                  <a:srgbClr val="C00000"/>
                </a:solidFill>
                <a:latin typeface="+mn-lt"/>
              </a:rPr>
              <a:t> </a:t>
            </a:r>
            <a:r>
              <a:rPr kumimoji="0" lang="en-IN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F710876-7AA0-658E-530F-F81A21593E30}"/>
              </a:ext>
            </a:extLst>
          </p:cNvPr>
          <p:cNvSpPr txBox="1">
            <a:spLocks/>
          </p:cNvSpPr>
          <p:nvPr/>
        </p:nvSpPr>
        <p:spPr bwMode="auto">
          <a:xfrm>
            <a:off x="1516982" y="3756852"/>
            <a:ext cx="8839200" cy="15716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DA0000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rgbClr val="034EA2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Simpler</a:t>
            </a:r>
            <a:r>
              <a:rPr kumimoji="0" lang="en-US" sz="1600" i="0" u="none" strike="noStrike" kern="0" cap="none" spc="0" normalizeH="0" noProof="0" dirty="0">
                <a:ln>
                  <a:noFill/>
                </a:ln>
                <a:solidFill>
                  <a:srgbClr val="034EA2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user interface is required for tracking of</a:t>
            </a:r>
            <a:r>
              <a:rPr lang="en-US" sz="1600" kern="0" dirty="0">
                <a:solidFill>
                  <a:srgbClr val="034EA2"/>
                </a:solidFill>
                <a:latin typeface="Arial" charset="0"/>
                <a:cs typeface="+mn-cs"/>
              </a:rPr>
              <a:t> time extension or cost escalation granted to the vendors in under various contracts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DA0000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US" sz="1600" kern="0" dirty="0">
                <a:solidFill>
                  <a:srgbClr val="034EA2"/>
                </a:solidFill>
                <a:latin typeface="Arial" charset="0"/>
                <a:cs typeface="+mn-cs"/>
              </a:rPr>
              <a:t>No IT Platform available for vendor assessment and performance rating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DA0000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US" sz="1600" kern="0" dirty="0">
                <a:solidFill>
                  <a:srgbClr val="034EA2"/>
                </a:solidFill>
                <a:latin typeface="Arial" charset="0"/>
                <a:cs typeface="+mn-cs"/>
              </a:rPr>
              <a:t>Intermediate milestone progress of vendors not readily available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Clr>
                <a:srgbClr val="DA0000"/>
              </a:buClr>
              <a:buSzPct val="100000"/>
              <a:buFont typeface="Wingdings" pitchFamily="2" charset="2"/>
              <a:buChar char="§"/>
            </a:pPr>
            <a:r>
              <a:rPr lang="en-US" sz="1600" kern="0" dirty="0">
                <a:solidFill>
                  <a:srgbClr val="034EA2"/>
                </a:solidFill>
                <a:latin typeface="Arial" charset="0"/>
                <a:cs typeface="+mn-cs"/>
              </a:rPr>
              <a:t>Scheme – Milestone based progress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Clr>
                <a:srgbClr val="DA0000"/>
              </a:buClr>
              <a:buSzPct val="100000"/>
              <a:buFont typeface="Wingdings" pitchFamily="2" charset="2"/>
              <a:buChar char="§"/>
            </a:pPr>
            <a:r>
              <a:rPr lang="en-US" sz="1600" kern="0" dirty="0">
                <a:solidFill>
                  <a:srgbClr val="034EA2"/>
                </a:solidFill>
                <a:latin typeface="Arial" charset="0"/>
                <a:cs typeface="+mn-cs"/>
              </a:rPr>
              <a:t>Material –Manufacturing Progress Report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DA0000"/>
              </a:buClr>
              <a:buSzPct val="100000"/>
              <a:buFont typeface="Wingdings" pitchFamily="2" charset="2"/>
              <a:buChar char="§"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34EA2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9786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C5EBEDC-252F-70E0-7AAD-4BC2E227B521}"/>
              </a:ext>
            </a:extLst>
          </p:cNvPr>
          <p:cNvSpPr txBox="1">
            <a:spLocks/>
          </p:cNvSpPr>
          <p:nvPr/>
        </p:nvSpPr>
        <p:spPr>
          <a:xfrm>
            <a:off x="1613314" y="1131094"/>
            <a:ext cx="7886700" cy="25641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950">
                <a:solidFill>
                  <a:srgbClr val="C00000"/>
                </a:solidFill>
                <a:latin typeface="+mn-lt"/>
              </a:rPr>
              <a:t>Required Digital Landscape -C&amp;M</a:t>
            </a:r>
            <a:endParaRPr lang="en-IN" sz="195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4489DF-B533-A4FD-6145-1593FC379B16}"/>
              </a:ext>
            </a:extLst>
          </p:cNvPr>
          <p:cNvSpPr txBox="1"/>
          <p:nvPr/>
        </p:nvSpPr>
        <p:spPr>
          <a:xfrm>
            <a:off x="2199132" y="1500174"/>
            <a:ext cx="7886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2060"/>
                </a:solidFill>
                <a:latin typeface="Aptos" panose="020B0004020202020204" pitchFamily="34" charset="0"/>
              </a:rPr>
              <a:t>A Single Integrated platform is required for monitoring of vendor related activity from tendering to invoice processing.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63054CD-980F-9911-FC35-99B0684B5C27}"/>
              </a:ext>
            </a:extLst>
          </p:cNvPr>
          <p:cNvSpPr txBox="1">
            <a:spLocks/>
          </p:cNvSpPr>
          <p:nvPr/>
        </p:nvSpPr>
        <p:spPr bwMode="auto">
          <a:xfrm>
            <a:off x="2030410" y="714356"/>
            <a:ext cx="7886700" cy="256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en-IN" sz="2000" dirty="0">
                <a:solidFill>
                  <a:srgbClr val="002060"/>
                </a:solidFill>
              </a:rPr>
              <a:t>SUPPLY CHAIN MANAGEMENT</a:t>
            </a:r>
          </a:p>
        </p:txBody>
      </p:sp>
      <p:sp>
        <p:nvSpPr>
          <p:cNvPr id="7" name="Rounded Rectangle 59">
            <a:extLst>
              <a:ext uri="{FF2B5EF4-FFF2-40B4-BE49-F238E27FC236}">
                <a16:creationId xmlns:a16="http://schemas.microsoft.com/office/drawing/2014/main" id="{F1AECA75-B033-1B52-0DE4-AA69B276F1F7}"/>
              </a:ext>
            </a:extLst>
          </p:cNvPr>
          <p:cNvSpPr/>
          <p:nvPr/>
        </p:nvSpPr>
        <p:spPr>
          <a:xfrm>
            <a:off x="1470502" y="4798093"/>
            <a:ext cx="928630" cy="91691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Need validation</a:t>
            </a:r>
          </a:p>
        </p:txBody>
      </p:sp>
      <p:sp>
        <p:nvSpPr>
          <p:cNvPr id="8" name="Rounded Rectangle 60">
            <a:extLst>
              <a:ext uri="{FF2B5EF4-FFF2-40B4-BE49-F238E27FC236}">
                <a16:creationId xmlns:a16="http://schemas.microsoft.com/office/drawing/2014/main" id="{B989BA46-538D-8FF8-1D79-ADD61F3E802A}"/>
              </a:ext>
            </a:extLst>
          </p:cNvPr>
          <p:cNvSpPr/>
          <p:nvPr/>
        </p:nvSpPr>
        <p:spPr>
          <a:xfrm>
            <a:off x="3470702" y="4806918"/>
            <a:ext cx="1000132" cy="90809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Approval/ CFT</a:t>
            </a:r>
          </a:p>
        </p:txBody>
      </p:sp>
      <p:sp>
        <p:nvSpPr>
          <p:cNvPr id="9" name="Rounded Rectangle 69">
            <a:extLst>
              <a:ext uri="{FF2B5EF4-FFF2-40B4-BE49-F238E27FC236}">
                <a16:creationId xmlns:a16="http://schemas.microsoft.com/office/drawing/2014/main" id="{E4127936-11CE-6FB3-9E17-211914DA3B02}"/>
              </a:ext>
            </a:extLst>
          </p:cNvPr>
          <p:cNvSpPr/>
          <p:nvPr/>
        </p:nvSpPr>
        <p:spPr>
          <a:xfrm>
            <a:off x="8542800" y="4828521"/>
            <a:ext cx="960354" cy="90553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Invoicing and BGs</a:t>
            </a:r>
          </a:p>
        </p:txBody>
      </p:sp>
      <p:sp>
        <p:nvSpPr>
          <p:cNvPr id="10" name="Rounded Rectangle 82">
            <a:extLst>
              <a:ext uri="{FF2B5EF4-FFF2-40B4-BE49-F238E27FC236}">
                <a16:creationId xmlns:a16="http://schemas.microsoft.com/office/drawing/2014/main" id="{FE876858-844D-5E80-006F-ADFDBCB56531}"/>
              </a:ext>
            </a:extLst>
          </p:cNvPr>
          <p:cNvSpPr/>
          <p:nvPr/>
        </p:nvSpPr>
        <p:spPr>
          <a:xfrm>
            <a:off x="7185478" y="2280292"/>
            <a:ext cx="2928926" cy="72008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800" b="0" dirty="0">
                <a:solidFill>
                  <a:schemeClr val="dk1"/>
                </a:solidFill>
              </a:rPr>
              <a:t>Partner Progress / Invoice Submission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F3E44C-5D54-D196-51B7-168B65AFC7D2}"/>
              </a:ext>
            </a:extLst>
          </p:cNvPr>
          <p:cNvSpPr/>
          <p:nvPr/>
        </p:nvSpPr>
        <p:spPr>
          <a:xfrm>
            <a:off x="1541876" y="3357562"/>
            <a:ext cx="8872570" cy="928694"/>
          </a:xfrm>
          <a:prstGeom prst="rect">
            <a:avLst/>
          </a:prstGeom>
          <a:solidFill>
            <a:srgbClr val="AFCFF3"/>
          </a:soli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Digitally enabled - Value Chain Management System</a:t>
            </a:r>
          </a:p>
        </p:txBody>
      </p:sp>
      <p:sp>
        <p:nvSpPr>
          <p:cNvPr id="12" name="Rounded Rectangle 86">
            <a:extLst>
              <a:ext uri="{FF2B5EF4-FFF2-40B4-BE49-F238E27FC236}">
                <a16:creationId xmlns:a16="http://schemas.microsoft.com/office/drawing/2014/main" id="{8BA2F75F-3CC2-1026-69C4-9BF393E8EC40}"/>
              </a:ext>
            </a:extLst>
          </p:cNvPr>
          <p:cNvSpPr/>
          <p:nvPr/>
        </p:nvSpPr>
        <p:spPr>
          <a:xfrm>
            <a:off x="9605940" y="4806918"/>
            <a:ext cx="808506" cy="90809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30" dirty="0">
                <a:solidFill>
                  <a:schemeClr val="tx1"/>
                </a:solidFill>
              </a:rPr>
              <a:t>Contract Closing</a:t>
            </a:r>
          </a:p>
        </p:txBody>
      </p:sp>
      <p:sp>
        <p:nvSpPr>
          <p:cNvPr id="13" name="Rounded Rectangle 87">
            <a:extLst>
              <a:ext uri="{FF2B5EF4-FFF2-40B4-BE49-F238E27FC236}">
                <a16:creationId xmlns:a16="http://schemas.microsoft.com/office/drawing/2014/main" id="{091B12C2-0378-C619-AEB0-8FD6F0359E0A}"/>
              </a:ext>
            </a:extLst>
          </p:cNvPr>
          <p:cNvSpPr/>
          <p:nvPr/>
        </p:nvSpPr>
        <p:spPr>
          <a:xfrm>
            <a:off x="2484883" y="4814996"/>
            <a:ext cx="842943" cy="900017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Tender</a:t>
            </a:r>
          </a:p>
        </p:txBody>
      </p:sp>
      <p:sp>
        <p:nvSpPr>
          <p:cNvPr id="14" name="Rounded Rectangle 89">
            <a:extLst>
              <a:ext uri="{FF2B5EF4-FFF2-40B4-BE49-F238E27FC236}">
                <a16:creationId xmlns:a16="http://schemas.microsoft.com/office/drawing/2014/main" id="{CF37961C-9E74-9324-5418-E938DFAD13DF}"/>
              </a:ext>
            </a:extLst>
          </p:cNvPr>
          <p:cNvSpPr/>
          <p:nvPr/>
        </p:nvSpPr>
        <p:spPr>
          <a:xfrm>
            <a:off x="1827628" y="2280292"/>
            <a:ext cx="2357454" cy="72008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0" dirty="0">
                <a:solidFill>
                  <a:schemeClr val="tx1"/>
                </a:solidFill>
              </a:rPr>
              <a:t>Bidders Platform</a:t>
            </a:r>
          </a:p>
        </p:txBody>
      </p:sp>
      <p:sp>
        <p:nvSpPr>
          <p:cNvPr id="15" name="Rounded Rectangle 90">
            <a:extLst>
              <a:ext uri="{FF2B5EF4-FFF2-40B4-BE49-F238E27FC236}">
                <a16:creationId xmlns:a16="http://schemas.microsoft.com/office/drawing/2014/main" id="{574E82EB-3128-591B-CD60-9D6E65F9C63A}"/>
              </a:ext>
            </a:extLst>
          </p:cNvPr>
          <p:cNvSpPr/>
          <p:nvPr/>
        </p:nvSpPr>
        <p:spPr>
          <a:xfrm>
            <a:off x="4613710" y="2280292"/>
            <a:ext cx="2357454" cy="72008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0" dirty="0"/>
              <a:t>Vendors Grievance Cell</a:t>
            </a:r>
          </a:p>
        </p:txBody>
      </p:sp>
      <p:sp>
        <p:nvSpPr>
          <p:cNvPr id="16" name="Rounded Rectangle 110">
            <a:extLst>
              <a:ext uri="{FF2B5EF4-FFF2-40B4-BE49-F238E27FC236}">
                <a16:creationId xmlns:a16="http://schemas.microsoft.com/office/drawing/2014/main" id="{CC25CC24-AE7C-8B60-00D8-620E72B2BA64}"/>
              </a:ext>
            </a:extLst>
          </p:cNvPr>
          <p:cNvSpPr/>
          <p:nvPr/>
        </p:nvSpPr>
        <p:spPr>
          <a:xfrm>
            <a:off x="5470966" y="4817129"/>
            <a:ext cx="857256" cy="91692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Award/</a:t>
            </a:r>
          </a:p>
          <a:p>
            <a:pPr algn="ctr"/>
            <a:r>
              <a:rPr lang="en-IN" sz="1100" dirty="0">
                <a:solidFill>
                  <a:schemeClr val="tx1"/>
                </a:solidFill>
              </a:rPr>
              <a:t>GRN</a:t>
            </a:r>
          </a:p>
        </p:txBody>
      </p:sp>
      <p:sp>
        <p:nvSpPr>
          <p:cNvPr id="17" name="Rounded Rectangle 111">
            <a:extLst>
              <a:ext uri="{FF2B5EF4-FFF2-40B4-BE49-F238E27FC236}">
                <a16:creationId xmlns:a16="http://schemas.microsoft.com/office/drawing/2014/main" id="{FC762A51-A9E9-E961-567A-3062F63A0177}"/>
              </a:ext>
            </a:extLst>
          </p:cNvPr>
          <p:cNvSpPr/>
          <p:nvPr/>
        </p:nvSpPr>
        <p:spPr>
          <a:xfrm>
            <a:off x="6399660" y="4816832"/>
            <a:ext cx="928694" cy="90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PA</a:t>
            </a:r>
          </a:p>
          <a:p>
            <a:pPr algn="ctr"/>
            <a:r>
              <a:rPr lang="en-IN" sz="900" dirty="0">
                <a:solidFill>
                  <a:schemeClr val="tx1"/>
                </a:solidFill>
              </a:rPr>
              <a:t>Monitoring</a:t>
            </a:r>
          </a:p>
        </p:txBody>
      </p:sp>
      <p:sp>
        <p:nvSpPr>
          <p:cNvPr id="18" name="Rounded Rectangle 112">
            <a:extLst>
              <a:ext uri="{FF2B5EF4-FFF2-40B4-BE49-F238E27FC236}">
                <a16:creationId xmlns:a16="http://schemas.microsoft.com/office/drawing/2014/main" id="{336D9325-E55C-BD31-D250-C10704817FA0}"/>
              </a:ext>
            </a:extLst>
          </p:cNvPr>
          <p:cNvSpPr/>
          <p:nvPr/>
        </p:nvSpPr>
        <p:spPr>
          <a:xfrm>
            <a:off x="7391362" y="4828518"/>
            <a:ext cx="1080000" cy="90553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Performance</a:t>
            </a:r>
          </a:p>
          <a:p>
            <a:pPr algn="ctr"/>
            <a:r>
              <a:rPr lang="en-IN" sz="1000" dirty="0">
                <a:solidFill>
                  <a:schemeClr val="tx1"/>
                </a:solidFill>
              </a:rPr>
              <a:t>, Feedback &amp; ESG Compliance</a:t>
            </a:r>
          </a:p>
        </p:txBody>
      </p:sp>
      <p:sp>
        <p:nvSpPr>
          <p:cNvPr id="19" name="Rounded Rectangle 113">
            <a:extLst>
              <a:ext uri="{FF2B5EF4-FFF2-40B4-BE49-F238E27FC236}">
                <a16:creationId xmlns:a16="http://schemas.microsoft.com/office/drawing/2014/main" id="{DA305991-FDA6-F17E-2F0D-AF19BAB70534}"/>
              </a:ext>
            </a:extLst>
          </p:cNvPr>
          <p:cNvSpPr/>
          <p:nvPr/>
        </p:nvSpPr>
        <p:spPr>
          <a:xfrm>
            <a:off x="4542272" y="4817129"/>
            <a:ext cx="857256" cy="91692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Negtn. /RA</a:t>
            </a:r>
          </a:p>
        </p:txBody>
      </p:sp>
      <p:sp>
        <p:nvSpPr>
          <p:cNvPr id="20" name="Rounded Rectangle 114">
            <a:extLst>
              <a:ext uri="{FF2B5EF4-FFF2-40B4-BE49-F238E27FC236}">
                <a16:creationId xmlns:a16="http://schemas.microsoft.com/office/drawing/2014/main" id="{8B6B9DBC-9ECC-845F-2221-3832565EA88C}"/>
              </a:ext>
            </a:extLst>
          </p:cNvPr>
          <p:cNvSpPr/>
          <p:nvPr/>
        </p:nvSpPr>
        <p:spPr>
          <a:xfrm>
            <a:off x="1541876" y="6215082"/>
            <a:ext cx="3071834" cy="285752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PA  Monitoring – Post Award Monitoring </a:t>
            </a:r>
          </a:p>
          <a:p>
            <a:r>
              <a:rPr lang="en-US" sz="1000" dirty="0" err="1">
                <a:solidFill>
                  <a:schemeClr val="tx1"/>
                </a:solidFill>
              </a:rPr>
              <a:t>Netn</a:t>
            </a:r>
            <a:r>
              <a:rPr lang="en-US" sz="1000" dirty="0">
                <a:solidFill>
                  <a:schemeClr val="tx1"/>
                </a:solidFill>
              </a:rPr>
              <a:t>- Negotiation</a:t>
            </a:r>
          </a:p>
        </p:txBody>
      </p:sp>
      <p:sp>
        <p:nvSpPr>
          <p:cNvPr id="21" name="Rounded Rectangle 115">
            <a:extLst>
              <a:ext uri="{FF2B5EF4-FFF2-40B4-BE49-F238E27FC236}">
                <a16:creationId xmlns:a16="http://schemas.microsoft.com/office/drawing/2014/main" id="{932D702D-1ABA-6D4A-7365-BBEB496BBD75}"/>
              </a:ext>
            </a:extLst>
          </p:cNvPr>
          <p:cNvSpPr/>
          <p:nvPr/>
        </p:nvSpPr>
        <p:spPr>
          <a:xfrm>
            <a:off x="4327958" y="6224606"/>
            <a:ext cx="4357718" cy="276228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CFT – Cross Functional Team (Various  tendering Committees)</a:t>
            </a:r>
          </a:p>
        </p:txBody>
      </p:sp>
    </p:spTree>
    <p:extLst>
      <p:ext uri="{BB962C8B-B14F-4D97-AF65-F5344CB8AC3E}">
        <p14:creationId xmlns:p14="http://schemas.microsoft.com/office/powerpoint/2010/main" val="3248300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EC6C46633C064A9E44FCB2D0F87517" ma:contentTypeVersion="3" ma:contentTypeDescription="Create a new document." ma:contentTypeScope="" ma:versionID="c7860cbb73874dc64e0508dbf90ac7a1">
  <xsd:schema xmlns:xsd="http://www.w3.org/2001/XMLSchema" xmlns:xs="http://www.w3.org/2001/XMLSchema" xmlns:p="http://schemas.microsoft.com/office/2006/metadata/properties" xmlns:ns2="8228e45e-acee-4dbe-94ed-6d9079f564be" targetNamespace="http://schemas.microsoft.com/office/2006/metadata/properties" ma:root="true" ma:fieldsID="9d4b1cf750486a5f0fa43cd2ca4a6b34" ns2:_="">
    <xsd:import namespace="8228e45e-acee-4dbe-94ed-6d9079f564b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28e45e-acee-4dbe-94ed-6d9079f564b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798E753-019E-4BD2-830D-4859D2A9B90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DF65F88-5322-47AD-B4DC-8D69B3F493F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228e45e-acee-4dbe-94ed-6d9079f564b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22438EE-F4BC-4693-A0D1-AAEF2B9F898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348</Words>
  <Application>Microsoft Office PowerPoint</Application>
  <PresentationFormat>Widescreen</PresentationFormat>
  <Paragraphs>70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NITIN GALANDE</dc:creator>
  <cp:lastModifiedBy>NITIN GALANDE</cp:lastModifiedBy>
  <cp:revision>4</cp:revision>
  <dcterms:created xsi:type="dcterms:W3CDTF">2025-11-12T13:13:28Z</dcterms:created>
  <dcterms:modified xsi:type="dcterms:W3CDTF">2025-11-21T10:10:30Z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0x01010091EC6C46633C064A9E44FCB2D0F87517</vt:lpwstr>
  </property>
</Properties>
</file>